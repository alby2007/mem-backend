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55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358384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687568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016752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345936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67512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004304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333488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662672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991856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32104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650224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029200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358384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687568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16752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345936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675120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004304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333488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662672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991856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321040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650224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029200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358384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687568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16752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345936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675120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004304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333488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662672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991856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321040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8650224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5029200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358384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687568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016752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345936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675120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7004304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7333488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7662672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7991856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8321040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8650224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5029200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5358384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5687568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6016752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6345936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675120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7004304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7333488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7662672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7991856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8321040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8650224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5029200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5358384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5687568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6016752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6345936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6675120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7004304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7333488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7662672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7991856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8650224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32004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GALAXY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20040" y="10058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why every
</a:t>
            </a: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fires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trade.</a:t>
            </a:r>
            <a:endParaRPr lang="en-US" sz="5200" dirty="0"/>
          </a:p>
        </p:txBody>
      </p:sp>
      <p:sp>
        <p:nvSpPr>
          <p:cNvPr id="77" name="Text 75"/>
          <p:cNvSpPr/>
          <p:nvPr/>
        </p:nvSpPr>
        <p:spPr>
          <a:xfrm>
            <a:off x="32004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portfolio briefing for serious retail traders.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320040" y="4069080"/>
            <a:ext cx="1737360" cy="365760"/>
          </a:xfrm>
          <a:prstGeom prst="rect">
            <a:avLst/>
          </a:prstGeom>
          <a:solidFill>
            <a:srgbClr val="1A1A1A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411480" y="41879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548640" y="4133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Day 4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2004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ANGEL INVESTORS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signal tool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forgets what it told you.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2331720"/>
            <a:ext cx="2743200" cy="22860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54864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signals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fire tips and walk away. No memory of what they told you, no follow-up when conditions change.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331720"/>
            <a:ext cx="2743200" cy="22860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54864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🔇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exit intelligence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told when to enter. Nobody tells you when to exit — when the thesis breaks, when to lock profit.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2743200" cy="22860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54864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fatigue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tips create 365+ positions a year. Act-on rates collapse. Users tune out within 2 weeks.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retail traders underperform the index.  Signal services contribute to this — not solve it.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living briefing that </a:t>
            </a: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thinks with you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— not just at you.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743200" cy="292608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4864" cy="2926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Ahead Briefing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27889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5800" y="27340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positions + zone 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32918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85800" y="3236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high-conviction setups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37947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85800" y="37398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last week + P&amp;L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828800"/>
            <a:ext cx="2743200" cy="292608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54864" cy="2926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429000" y="1920240"/>
            <a:ext cx="1005840" cy="2560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429000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2900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Update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56432" y="2788920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11880" y="27340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position reviewed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56432" y="3291840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11880" y="3236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signal shifts surfaced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56432" y="3794760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11880" y="37398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changes flagged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2743200" cy="292608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217920" y="1828800"/>
            <a:ext cx="54864" cy="2926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355080" y="1920240"/>
            <a:ext cx="10058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355080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5508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82512" y="27889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537960" y="27340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breaks before stop hits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82512" y="32918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537960" y="3236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lock when KB weakens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82512" y="37947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537960" y="37398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pullback detection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delivered via Telegram — zero friction, no app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knowledge graph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competitor can replicate.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11,700+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07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ATOMS LIVE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5176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651760" y="2807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ADAPTERS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SIGNALS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3383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min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5176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CYCLE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4206240" cy="62179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· LSE Flow · Options · Short Interest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206240" cy="62179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· ACLED · UCDP · Seismic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474720"/>
            <a:ext cx="4206240" cy="62179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66360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&amp; CB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· BoE · EIA Energy · Economic Calendar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4206240"/>
            <a:ext cx="4206240" cy="62179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663440" y="420624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754880" y="4297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4526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· Earnings · Insider Transactions · FCA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data from real user trade outcomes compounds the moat over time — pattern accuracy improves with every accepted or rejected tip.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production stack.
</a:t>
            </a: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258568"/>
            <a:ext cx="0" cy="475488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2039112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22-adapter KB live on Oracle Cloud. 10k+ atoms.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2916936"/>
            <a:ext cx="0" cy="475488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41248" y="26883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26883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detection, signal enrichment, geopolitical layer.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575304"/>
            <a:ext cx="0" cy="475488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41248" y="33467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3346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(8 screens), Telegram bot, tip delivery pipeline.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41248" y="4005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4005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briefing, emergency alerts, profit target system. 2 waitlist signups — organic.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1828800"/>
            <a:ext cx="2377440" cy="283464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492240" y="1828800"/>
            <a:ext cx="54864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58368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RIGHT NOW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0" y="2331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11.7k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83680" y="2697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atoms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28986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83680" y="3264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adapters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34655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583680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signals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4032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583680" y="4398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(organic)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tiers. One clear upgrade path.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743200" cy="32004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4864" cy="3200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£9/mo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2688336"/>
            <a:ext cx="82296" cy="8229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2642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briefing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3127248"/>
            <a:ext cx="82296" cy="8229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3081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setups/week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3566160"/>
            <a:ext cx="82296" cy="8229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FVG + IFVG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4005072"/>
            <a:ext cx="82296" cy="8229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5800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&amp; 4h timeframes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480560"/>
            <a:ext cx="1280160" cy="2011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" y="44897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1554480"/>
            <a:ext cx="2743200" cy="32004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291840" y="1554480"/>
            <a:ext cx="54864" cy="3200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4290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£29/mo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3456432" y="2688336"/>
            <a:ext cx="82296" cy="8229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11880" y="2642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+ Wed briefing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56432" y="3127248"/>
            <a:ext cx="82296" cy="8229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11880" y="3081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setups/week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6432" y="3566160"/>
            <a:ext cx="82296" cy="8229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611880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pattern types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56432" y="4005072"/>
            <a:ext cx="82296" cy="8229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611880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1h, 4h &amp; daily TFs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4480560"/>
            <a:ext cx="1280160" cy="2011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429000" y="44897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1554480"/>
            <a:ext cx="2743200" cy="3200400"/>
          </a:xfrm>
          <a:prstGeom prst="rect">
            <a:avLst/>
          </a:prstGeom>
          <a:solidFill>
            <a:srgbClr val="161616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217920" y="1554480"/>
            <a:ext cx="54864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3550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£79/mo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6382512" y="26883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537960" y="2642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briefing + alerts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82512" y="312724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537960" y="3081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setups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82512" y="356616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537960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timeframes (15m–1d)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82512" y="400507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537960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profit targets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4480560"/>
            <a:ext cx="1280160" cy="20116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355080" y="44897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traders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LTV: £348 / £1,044 / £2,844 per user annually across tiers. Expansion revenue via portfolio integrations and institutional data layer (roadmap).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massive, underserved market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no intelligent incumbent.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2286000"/>
            <a:ext cx="2743200" cy="18288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33649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retail trading tools &amp; analytics market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2743200" cy="18288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29000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29000" y="33649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 active retail traders seeking AI-assisted signals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743200" cy="18288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355080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£18M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55080" y="33649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retail active traders, Year 3 target at 3% penetration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 active retail traders in the UK. 88% underperform. Zero products currently offer KB-backed causal signal intelligence.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Everyone fires signals.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Nobody manages the trade.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011680" cy="347472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30352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68880" y="2011680"/>
            <a:ext cx="1508760" cy="347472"/>
          </a:xfrm>
          <a:prstGeom prst="rect">
            <a:avLst/>
          </a:prstGeom>
          <a:solidFill>
            <a:srgbClr val="F59E0B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542032" y="2066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Galaxy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011680"/>
            <a:ext cx="1508760" cy="347472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050792" y="2066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2011680"/>
            <a:ext cx="1508760" cy="347472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559552" y="2066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Whales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95160" y="2011680"/>
            <a:ext cx="1508760" cy="347472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068312" y="2066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Alerts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59152"/>
            <a:ext cx="201168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30352" y="2450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knowledge graph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359152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42032" y="2450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2359152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50792" y="2450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2359152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559552" y="2450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95160" y="2359152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068312" y="2450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2359152"/>
            <a:ext cx="1508760" cy="393192"/>
          </a:xfrm>
          <a:prstGeom prst="rect">
            <a:avLst/>
          </a:prstGeom>
          <a:solidFill>
            <a:srgbClr val="1A12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542032" y="2450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752344"/>
            <a:ext cx="201168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30352" y="28437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lifecycle mgmt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2752344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542032" y="284378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77640" y="2752344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050792" y="284378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0" y="2752344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559552" y="284378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95160" y="2752344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068312" y="284378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468880" y="2752344"/>
            <a:ext cx="1508760" cy="393192"/>
          </a:xfrm>
          <a:prstGeom prst="rect">
            <a:avLst/>
          </a:prstGeom>
          <a:solidFill>
            <a:srgbClr val="1A12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542032" y="284378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3145536"/>
            <a:ext cx="201168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30352" y="3236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compounding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8880" y="3145536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542032" y="3236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977640" y="3145536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050792" y="3236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0" y="3145536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5559552" y="3236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95160" y="3145536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7068312" y="3236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468880" y="3145536"/>
            <a:ext cx="1508760" cy="393192"/>
          </a:xfrm>
          <a:prstGeom prst="rect">
            <a:avLst/>
          </a:prstGeom>
          <a:solidFill>
            <a:srgbClr val="1A12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2542032" y="3236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57200" y="3538728"/>
            <a:ext cx="201168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530352" y="3630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KB alerts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468880" y="3538728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2542032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977640" y="3538728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4050792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486400" y="3538728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5559552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995160" y="3538728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7068312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2468880" y="3538728"/>
            <a:ext cx="1508760" cy="393192"/>
          </a:xfrm>
          <a:prstGeom prst="rect">
            <a:avLst/>
          </a:prstGeom>
          <a:solidFill>
            <a:srgbClr val="1A12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2542032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57200" y="3931920"/>
            <a:ext cx="201168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530352" y="40233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market coverage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468880" y="3931920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2542032" y="4023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977640" y="3931920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4050792" y="4023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486400" y="3931920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5559552" y="4023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995160" y="3931920"/>
            <a:ext cx="1508760" cy="39319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7068312" y="4023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2468880" y="3931920"/>
            <a:ext cx="1508760" cy="393192"/>
          </a:xfrm>
          <a:prstGeom prst="rect">
            <a:avLst/>
          </a:prstGeom>
          <a:solidFill>
            <a:srgbClr val="1A12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2542032" y="4023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57200" y="4325112"/>
            <a:ext cx="201168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530352" y="44165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Telegram-native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468880" y="4325112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2542032" y="44165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3977640" y="4325112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4050792" y="44165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486400" y="4325112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5559552" y="44165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995160" y="4325112"/>
            <a:ext cx="1508760" cy="393192"/>
          </a:xfrm>
          <a:prstGeom prst="rect">
            <a:avLst/>
          </a:prstGeom>
          <a:solidFill>
            <a:srgbClr val="0D0D0D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7068312" y="44165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2468880" y="4325112"/>
            <a:ext cx="1508760" cy="393192"/>
          </a:xfrm>
          <a:prstGeom prst="rect">
            <a:avLst/>
          </a:prstGeom>
          <a:solidFill>
            <a:srgbClr val="1A12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2542032" y="44165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by people who think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systems, not features.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023360" cy="2743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Alby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487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researcher and systems thinker. Built Trading Galaxy's entire production stack in 4 days — 22 adapters, KB architecture, living briefing system, and alert infrastructure. Studies Uniformed Protective Services; applies systems thinking to every layer of product and engineering.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1887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" y="4352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Research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901952" y="4343400"/>
            <a:ext cx="11887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901952" y="4352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Architecture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163824" y="4343400"/>
            <a:ext cx="11887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163824" y="4352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Engineering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4023360" cy="2743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846320" y="2011680"/>
            <a:ext cx="54864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029200" y="2148840"/>
            <a:ext cx="685800" cy="6858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29200" y="217627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06440" y="2148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Krish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06440" y="2487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92608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of a home automation company. Brings commercial leadership, operational scaling experience, and a proven track record of building and managing technical teams to market. Leads go-to-market, partnerships, and business development for Trading Galaxy.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4343400"/>
            <a:ext cx="11887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029200" y="4352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Experience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291072" y="4343400"/>
            <a:ext cx="11887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291072" y="4352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552944" y="4343400"/>
            <a:ext cx="11887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552944" y="4352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Scaling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Marketing duo and engineering interns onboarded. UK Ltd company registration in progress.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beta to moat.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743200" cy="329184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4864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4630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6367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Q2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&amp; Calibration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2468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580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cohort onboarding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90779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8580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real 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33467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data accumulation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78561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sentiment adapter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800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chat interface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508760"/>
            <a:ext cx="2743200" cy="329184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291840" y="1508760"/>
            <a:ext cx="54864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429000" y="1627632"/>
            <a:ext cx="1463040" cy="2377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429000" y="16367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2900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Monetise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56432" y="2468880"/>
            <a:ext cx="82296" cy="8229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1188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launch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6432" y="2907792"/>
            <a:ext cx="82296" cy="8229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61188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Polygon.io real-time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56432" y="3346704"/>
            <a:ext cx="82296" cy="8229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6118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 target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56432" y="3785616"/>
            <a:ext cx="82296" cy="8229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61188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API integrations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56432" y="4224528"/>
            <a:ext cx="82296" cy="8229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611880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508760"/>
            <a:ext cx="2743200" cy="329184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217920" y="1508760"/>
            <a:ext cx="54864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355080" y="1627632"/>
            <a:ext cx="14630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355080" y="16367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→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35508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&amp; Expand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82512" y="246888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53796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data layer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2907792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53796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 full coverage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82512" y="334670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53796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accuracy dashboard (public)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82512" y="378561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53796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raise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82512" y="4224528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537960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white-label API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24, 2026 — first snapshot date. Calibration data from this cohort informs Series A narrative.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</a:t>
            </a: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350,000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  ·  £2M pre-money valuation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393192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data feeds (Polygon.io), infrastructure scaling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2331720"/>
            <a:ext cx="393192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526280" y="233172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0916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32120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user acquisition, content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393192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2588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full-time hire, contractor expansion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3246120"/>
            <a:ext cx="393192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526280" y="324612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0916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Ops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Ltd, FCA compliance review, accounting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Runway: 18 months to Series A.  Target: 1,000 paying users, £300k ARR, calibration moat established.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358384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687568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016752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345936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67512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004304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333488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662672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991856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32104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650224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029200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358384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687568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16752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345936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675120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004304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333488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662672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991856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321040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650224" y="10515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029200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358384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687568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16752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345936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675120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004304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333488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662672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991856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321040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8650224" y="18288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5029200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358384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687568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016752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345936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675120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7004304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7333488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7662672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7991856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8321040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8650224" y="26060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5029200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5358384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5687568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6016752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6345936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675120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7004304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7333488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7662672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7991856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8321040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8650224" y="3383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5029200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5358384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5687568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6016752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6345936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6675120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7004304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7333488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7662672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7991856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8650224" y="41605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3200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GALAXY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20040" y="10058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retail trader's
</a:t>
            </a: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unfair advantage.</a:t>
            </a:r>
            <a:endParaRPr lang="en-US" sz="4400" dirty="0"/>
          </a:p>
        </p:txBody>
      </p:sp>
      <p:sp>
        <p:nvSpPr>
          <p:cNvPr id="77" name="Text 75"/>
          <p:cNvSpPr/>
          <p:nvPr/>
        </p:nvSpPr>
        <p:spPr>
          <a:xfrm>
            <a:off x="320040" y="2971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trading-galaxy.uk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320040" y="3429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4. Fully live. 11,700+ KB atoms. 22 adapters.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Monday briefing fires this week.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20040" y="4251960"/>
            <a:ext cx="3200400" cy="64008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457200" y="4315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57200" y="4544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app.trading-galaxy.uk  ·  UK Ltd (in formation)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992</Words>
  <Application>Microsoft Office PowerPoint</Application>
  <PresentationFormat>On-screen Show (16:9)</PresentationFormat>
  <Paragraphs>237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Galaxy — Investor Deck</dc:title>
  <dc:subject>PptxGenJS Presentation</dc:subject>
  <dc:creator>PptxGenJS</dc:creator>
  <cp:lastModifiedBy>Alby Jemmett</cp:lastModifiedBy>
  <cp:revision>1</cp:revision>
  <dcterms:created xsi:type="dcterms:W3CDTF">2026-03-01T12:51:53Z</dcterms:created>
  <dcterms:modified xsi:type="dcterms:W3CDTF">2026-03-01T12:57:46Z</dcterms:modified>
</cp:coreProperties>
</file>